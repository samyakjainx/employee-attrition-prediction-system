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Cambria"/>
              </a:rPr>
              <a:t>Top 10 Important Features (Random Forest)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068C9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645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NumCompaniesWorked</c:v>
                </c:pt>
                <c:pt idx="1">
                  <c:v>YearsAtCompany</c:v>
                </c:pt>
                <c:pt idx="2">
                  <c:v>DistanceFromHome</c:v>
                </c:pt>
                <c:pt idx="3">
                  <c:v>HourlyRate</c:v>
                </c:pt>
                <c:pt idx="4">
                  <c:v>MonthlyRate</c:v>
                </c:pt>
                <c:pt idx="5">
                  <c:v>TotalWorkingYears</c:v>
                </c:pt>
                <c:pt idx="6">
                  <c:v>OverTime</c:v>
                </c:pt>
                <c:pt idx="7">
                  <c:v>DailyRate</c:v>
                </c:pt>
                <c:pt idx="8">
                  <c:v>Age</c:v>
                </c:pt>
                <c:pt idx="9">
                  <c:v>MonthlyIncome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3.56E-2</c:v>
                </c:pt>
                <c:pt idx="1">
                  <c:v>3.9399999999999998E-2</c:v>
                </c:pt>
                <c:pt idx="2">
                  <c:v>4.8599999999999997E-2</c:v>
                </c:pt>
                <c:pt idx="3">
                  <c:v>5.0200000000000002E-2</c:v>
                </c:pt>
                <c:pt idx="4">
                  <c:v>5.1299999999999998E-2</c:v>
                </c:pt>
                <c:pt idx="5">
                  <c:v>5.3900000000000003E-2</c:v>
                </c:pt>
                <c:pt idx="6">
                  <c:v>5.57E-2</c:v>
                </c:pt>
                <c:pt idx="7">
                  <c:v>5.74E-2</c:v>
                </c:pt>
                <c:pt idx="8">
                  <c:v>6.3500000000000001E-2</c:v>
                </c:pt>
                <c:pt idx="9">
                  <c:v>8.0500000000000002E-2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80-40B1-9318-1955CA5E76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76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sv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jpeg"/><Relationship Id="rId4" Type="http://schemas.openxmlformats.org/officeDocument/2006/relationships/image" Target="../media/image24.svg"/><Relationship Id="rId9" Type="http://schemas.openxmlformats.org/officeDocument/2006/relationships/image" Target="../media/image2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Relationship Id="rId9" Type="http://schemas.openxmlformats.org/officeDocument/2006/relationships/image" Target="../media/image39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114800" cy="41148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40735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</a:t>
            </a:r>
            <a:r>
              <a:rPr lang="en-US" sz="4000" dirty="0"/>
              <a:t>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Predicting Workforce Attrition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069080"/>
            <a:ext cx="2011680" cy="0"/>
          </a:xfrm>
          <a:prstGeom prst="line">
            <a:avLst/>
          </a:prstGeom>
          <a:noFill/>
          <a:ln w="31750">
            <a:solidFill>
              <a:srgbClr val="0068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588011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Samyak Jain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999491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</a:t>
            </a:r>
            <a:r>
              <a:rPr lang="en-IN" sz="1500" dirty="0">
                <a:solidFill>
                  <a:schemeClr val="bg1"/>
                </a:solidFill>
              </a:rPr>
              <a:t>AIML Summer Internship 2026, IIHMF, MNNIT Allahabad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5410971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College of Engineering and Research, Prayagraj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4D2860-5924-2A98-C96A-070605E3E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138" y="4616476"/>
            <a:ext cx="1819448" cy="17656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B46B15-8BC1-02ED-ED58-060923C97CF2}"/>
              </a:ext>
            </a:extLst>
          </p:cNvPr>
          <p:cNvSpPr txBox="1"/>
          <p:nvPr/>
        </p:nvSpPr>
        <p:spPr>
          <a:xfrm>
            <a:off x="868680" y="5822451"/>
            <a:ext cx="49408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Academic Year : </a:t>
            </a:r>
            <a:r>
              <a:rPr lang="en-IN" sz="1500" dirty="0">
                <a:solidFill>
                  <a:schemeClr val="bg1"/>
                </a:solidFill>
              </a:rPr>
              <a:t>2026 - 2027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480310" cy="4297680"/>
          </a:xfrm>
          <a:prstGeom prst="roundRect">
            <a:avLst>
              <a:gd name="adj" fmla="val 2949"/>
            </a:avLst>
          </a:prstGeom>
          <a:solidFill>
            <a:srgbClr val="F4F6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8755" y="1828800"/>
            <a:ext cx="822960" cy="82296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5" name="Image 0" descr="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990" y="1889150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834640"/>
            <a:ext cx="2114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Attrition?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3474720"/>
            <a:ext cx="202311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gradual, ongoing loss of employees who resign, retire, or are terminated and are not immediately replaced.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40430" y="1463040"/>
            <a:ext cx="2480310" cy="4297680"/>
          </a:xfrm>
          <a:prstGeom prst="roundRect">
            <a:avLst>
              <a:gd name="adj" fmla="val 2949"/>
            </a:avLst>
          </a:prstGeom>
          <a:solidFill>
            <a:srgbClr val="F4F6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69105" y="1828800"/>
            <a:ext cx="822960" cy="82296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10" name="Image 1" descr="icons/trend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860" y="1927555"/>
            <a:ext cx="625450" cy="625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23310" y="2834640"/>
            <a:ext cx="2114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69030" y="3474720"/>
            <a:ext cx="202311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skilled employees disrupts teams, delays projects, and erodes institutional knowledge built over years.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40780" y="1463040"/>
            <a:ext cx="2480310" cy="4297680"/>
          </a:xfrm>
          <a:prstGeom prst="roundRect">
            <a:avLst>
              <a:gd name="adj" fmla="val 2949"/>
            </a:avLst>
          </a:prstGeom>
          <a:solidFill>
            <a:srgbClr val="F4F6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69455" y="1828800"/>
            <a:ext cx="822960" cy="82296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15" name="Image 2" descr="icons/doll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210" y="1927555"/>
            <a:ext cx="625450" cy="625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3660" y="2834640"/>
            <a:ext cx="2114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Impact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69380" y="3474720"/>
            <a:ext cx="202311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exit brings recruitment, onboarding, and training costs, plus lost productivity while the role sits vacant.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041130" y="1463040"/>
            <a:ext cx="2480310" cy="4297680"/>
          </a:xfrm>
          <a:prstGeom prst="roundRect">
            <a:avLst>
              <a:gd name="adj" fmla="val 2949"/>
            </a:avLst>
          </a:prstGeom>
          <a:solidFill>
            <a:srgbClr val="F4F6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869805" y="1828800"/>
            <a:ext cx="822960" cy="82296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20" name="Image 3" descr="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8560" y="1927555"/>
            <a:ext cx="625450" cy="625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24010" y="2834640"/>
            <a:ext cx="2114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Challenge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269730" y="3474720"/>
            <a:ext cx="202311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HR relies on exit interviews - reactive, after the employee has already decided to leave.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Network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6462" y="1870862"/>
            <a:ext cx="555955" cy="555955"/>
          </a:xfrm>
          <a:prstGeom prst="rect">
            <a:avLst/>
          </a:prstGeom>
          <a:noFill/>
        </p:spPr>
      </p:pic>
      <p:sp>
        <p:nvSpPr>
          <p:cNvPr id="6" name="Text 3"/>
          <p:cNvSpPr/>
          <p:nvPr/>
        </p:nvSpPr>
        <p:spPr>
          <a:xfrm>
            <a:off x="178308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Employee Attrition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783080" y="20574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classification model that predicts whether an employee is likely to leave, using their HR profile.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5544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783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activity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25742" y="1870862"/>
            <a:ext cx="555955" cy="5559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Employee Behaviour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452360" y="20574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satisfaction, income, overtime, and tenure relate to the decision to leave.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30632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3291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Venn diagram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6462" y="3379622"/>
            <a:ext cx="555955" cy="5559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ML Models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783080" y="35661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five classification algorithms, then select the best performer objectively.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09360" y="30632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/>
        </p:spPr>
      </p:sp>
      <p:sp>
        <p:nvSpPr>
          <p:cNvPr id="19" name="Shape 14"/>
          <p:cNvSpPr/>
          <p:nvPr/>
        </p:nvSpPr>
        <p:spPr>
          <a:xfrm>
            <a:off x="6537960" y="3291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Lightbulb and gear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625742" y="3379622"/>
            <a:ext cx="555955" cy="5559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an Interactive App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452360" y="35661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final model into a Streamlit web application usable by HR teams in real time.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Employee Attrition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09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709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709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16002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1709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968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71800"/>
          <a:ext cx="7680960" cy="24688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- IBM HR Analytics Employee Attrition &amp; 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Attrition (Yes / No)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Balance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1,233 (83.9%)   |   Yes: 237 (16.1%)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Types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Categorical, 26 Numerical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595360" y="2971800"/>
            <a:ext cx="2926080" cy="3017520"/>
          </a:xfrm>
          <a:prstGeom prst="roundRect">
            <a:avLst>
              <a:gd name="adj" fmla="val 2500"/>
            </a:avLst>
          </a:prstGeom>
          <a:solidFill>
            <a:srgbClr val="F4F6FA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9680" y="3200400"/>
            <a:ext cx="640080" cy="64008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19" name="Image 0" descr="Internet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946490" y="3277210"/>
            <a:ext cx="486461" cy="48646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82396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778240" y="4526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Personal: Age, Gender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Role, Department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Pay: Income, Daily Rate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Satisfaction: WLB, Job Sat.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Tenure: Years at Company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743200"/>
            <a:ext cx="123444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816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31089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74520" y="3255264"/>
            <a:ext cx="143691" cy="164592"/>
          </a:xfrm>
          <a:prstGeom prst="rightArrow">
            <a:avLst/>
          </a:prstGeom>
          <a:solidFill>
            <a:srgbClr val="6B7A8F"/>
          </a:solidFill>
          <a:ln/>
        </p:spPr>
      </p:sp>
      <p:sp>
        <p:nvSpPr>
          <p:cNvPr id="7" name="Shape 5"/>
          <p:cNvSpPr/>
          <p:nvPr/>
        </p:nvSpPr>
        <p:spPr>
          <a:xfrm>
            <a:off x="2018211" y="2743200"/>
            <a:ext cx="123444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018211" y="2816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63931" y="31089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52651" y="3255264"/>
            <a:ext cx="143691" cy="164592"/>
          </a:xfrm>
          <a:prstGeom prst="rightArrow">
            <a:avLst/>
          </a:prstGeom>
          <a:solidFill>
            <a:srgbClr val="6B7A8F"/>
          </a:solidFill>
          <a:ln/>
        </p:spPr>
      </p:sp>
      <p:sp>
        <p:nvSpPr>
          <p:cNvPr id="11" name="Shape 9"/>
          <p:cNvSpPr/>
          <p:nvPr/>
        </p:nvSpPr>
        <p:spPr>
          <a:xfrm>
            <a:off x="3396343" y="2743200"/>
            <a:ext cx="123444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396343" y="2816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2063" y="31089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30783" y="3255264"/>
            <a:ext cx="143691" cy="164592"/>
          </a:xfrm>
          <a:prstGeom prst="rightArrow">
            <a:avLst/>
          </a:prstGeom>
          <a:solidFill>
            <a:srgbClr val="6B7A8F"/>
          </a:solidFill>
          <a:ln/>
        </p:spPr>
      </p:sp>
      <p:sp>
        <p:nvSpPr>
          <p:cNvPr id="15" name="Shape 13"/>
          <p:cNvSpPr/>
          <p:nvPr/>
        </p:nvSpPr>
        <p:spPr>
          <a:xfrm>
            <a:off x="4774474" y="2743200"/>
            <a:ext cx="123444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774474" y="2816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0194" y="31089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08914" y="3255264"/>
            <a:ext cx="143691" cy="164592"/>
          </a:xfrm>
          <a:prstGeom prst="rightArrow">
            <a:avLst/>
          </a:prstGeom>
          <a:solidFill>
            <a:srgbClr val="6B7A8F"/>
          </a:solidFill>
          <a:ln/>
        </p:spPr>
      </p:sp>
      <p:sp>
        <p:nvSpPr>
          <p:cNvPr id="19" name="Shape 17"/>
          <p:cNvSpPr/>
          <p:nvPr/>
        </p:nvSpPr>
        <p:spPr>
          <a:xfrm>
            <a:off x="6152606" y="2743200"/>
            <a:ext cx="123444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152606" y="2816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8326" y="31089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87046" y="3255264"/>
            <a:ext cx="143691" cy="164592"/>
          </a:xfrm>
          <a:prstGeom prst="rightArrow">
            <a:avLst/>
          </a:prstGeom>
          <a:solidFill>
            <a:srgbClr val="6B7A8F"/>
          </a:solidFill>
          <a:ln/>
        </p:spPr>
      </p:sp>
      <p:sp>
        <p:nvSpPr>
          <p:cNvPr id="23" name="Shape 21"/>
          <p:cNvSpPr/>
          <p:nvPr/>
        </p:nvSpPr>
        <p:spPr>
          <a:xfrm>
            <a:off x="7530737" y="2743200"/>
            <a:ext cx="123444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530737" y="2816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76457" y="31089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765177" y="3255264"/>
            <a:ext cx="143691" cy="164592"/>
          </a:xfrm>
          <a:prstGeom prst="rightArrow">
            <a:avLst/>
          </a:prstGeom>
          <a:solidFill>
            <a:srgbClr val="6B7A8F"/>
          </a:solidFill>
          <a:ln/>
        </p:spPr>
      </p:sp>
      <p:sp>
        <p:nvSpPr>
          <p:cNvPr id="27" name="Shape 25"/>
          <p:cNvSpPr/>
          <p:nvPr/>
        </p:nvSpPr>
        <p:spPr>
          <a:xfrm>
            <a:off x="8908869" y="2743200"/>
            <a:ext cx="123444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908869" y="2816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54589" y="31089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143309" y="3255264"/>
            <a:ext cx="143691" cy="164592"/>
          </a:xfrm>
          <a:prstGeom prst="rightArrow">
            <a:avLst/>
          </a:prstGeom>
          <a:solidFill>
            <a:srgbClr val="6B7A8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87000" y="2743200"/>
            <a:ext cx="1234440" cy="1188720"/>
          </a:xfrm>
          <a:prstGeom prst="roundRect">
            <a:avLst>
              <a:gd name="adj" fmla="val 6923"/>
            </a:avLst>
          </a:prstGeom>
          <a:solidFill>
            <a:srgbClr val="0068C9"/>
          </a:solidFill>
          <a:ln/>
        </p:spPr>
      </p:sp>
      <p:sp>
        <p:nvSpPr>
          <p:cNvPr id="32" name="Text 30"/>
          <p:cNvSpPr/>
          <p:nvPr/>
        </p:nvSpPr>
        <p:spPr>
          <a:xfrm>
            <a:off x="10287000" y="2816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332720" y="31089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was implemented in its own Jupyter notebook - from raw data to a deployed, working web application.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/>
        </p:spPr>
      </p:sp>
      <p:sp>
        <p:nvSpPr>
          <p:cNvPr id="4" name="Shape 2"/>
          <p:cNvSpPr/>
          <p:nvPr/>
        </p:nvSpPr>
        <p:spPr>
          <a:xfrm>
            <a:off x="1577340" y="1828800"/>
            <a:ext cx="731520" cy="7315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5" name="Image 0" descr="Research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65122" y="1916582"/>
            <a:ext cx="555955" cy="555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in 1,470 records - no imputation required.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15544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/>
        </p:spPr>
      </p:sp>
      <p:sp>
        <p:nvSpPr>
          <p:cNvPr id="9" name="Shape 6"/>
          <p:cNvSpPr/>
          <p:nvPr/>
        </p:nvSpPr>
        <p:spPr>
          <a:xfrm>
            <a:off x="4366260" y="1828800"/>
            <a:ext cx="731520" cy="7315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0" name="Image 1" descr="Database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54042" y="1916582"/>
            <a:ext cx="555955" cy="5559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Records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611880" y="32004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rows detected in the dataset.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5544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/>
        </p:spPr>
      </p:sp>
      <p:sp>
        <p:nvSpPr>
          <p:cNvPr id="14" name="Shape 10"/>
          <p:cNvSpPr/>
          <p:nvPr/>
        </p:nvSpPr>
        <p:spPr>
          <a:xfrm>
            <a:off x="7155180" y="1828800"/>
            <a:ext cx="731520" cy="7315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5" name="Image 2" descr="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962" y="1916582"/>
            <a:ext cx="555955" cy="5559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00800" y="32004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categorical columns transformed using LabelEncoder, saved per-column.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9006840" y="15544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/>
        </p:spPr>
      </p:sp>
      <p:sp>
        <p:nvSpPr>
          <p:cNvPr id="19" name="Shape 14"/>
          <p:cNvSpPr/>
          <p:nvPr/>
        </p:nvSpPr>
        <p:spPr>
          <a:xfrm>
            <a:off x="9944100" y="1828800"/>
            <a:ext cx="731520" cy="7315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0" name="Image 3" descr="Ruler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031882" y="1916582"/>
            <a:ext cx="555955" cy="5559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189720" y="32004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34 features standardised with StandardScaler (zero mean, unit variance).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40080" y="46634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4" name="Text 18"/>
          <p:cNvSpPr/>
          <p:nvPr/>
        </p:nvSpPr>
        <p:spPr>
          <a:xfrm>
            <a:off x="91440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Model-Ready Dataset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14400" y="5257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 rows  x  34 encoded &amp; scaled features  +  1 target column (Attrition)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474720" cy="2331720"/>
          </a:xfrm>
          <a:prstGeom prst="roundRect">
            <a:avLst>
              <a:gd name="adj" fmla="val 2353"/>
            </a:avLst>
          </a:prstGeom>
          <a:solidFill>
            <a:srgbClr val="F4F6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234440"/>
            <a:ext cx="3200400" cy="1463040"/>
          </a:xfrm>
          <a:prstGeom prst="roundRect">
            <a:avLst>
              <a:gd name="adj" fmla="val 2500"/>
            </a:avLst>
          </a:prstGeom>
          <a:solidFill>
            <a:srgbClr val="E4E9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~16% of employees left - a moderately imbalanced target.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43400" y="1097280"/>
            <a:ext cx="3474720" cy="2331720"/>
          </a:xfrm>
          <a:prstGeom prst="roundRect">
            <a:avLst>
              <a:gd name="adj" fmla="val 2353"/>
            </a:avLst>
          </a:prstGeom>
          <a:solidFill>
            <a:srgbClr val="F4F6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234440"/>
            <a:ext cx="3200400" cy="1463040"/>
          </a:xfrm>
          <a:prstGeom prst="roundRect">
            <a:avLst>
              <a:gd name="adj" fmla="val 2500"/>
            </a:avLst>
          </a:prstGeom>
          <a:solidFill>
            <a:srgbClr val="E4E9F2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2344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0" y="27432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left generally earned less.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1097280"/>
            <a:ext cx="3474720" cy="2331720"/>
          </a:xfrm>
          <a:prstGeom prst="roundRect">
            <a:avLst>
              <a:gd name="adj" fmla="val 2353"/>
            </a:avLst>
          </a:prstGeom>
          <a:solidFill>
            <a:srgbClr val="F4F6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1234440"/>
            <a:ext cx="3200400" cy="1463040"/>
          </a:xfrm>
          <a:prstGeom prst="roundRect">
            <a:avLst>
              <a:gd name="adj" fmla="val 2500"/>
            </a:avLst>
          </a:prstGeom>
          <a:solidFill>
            <a:srgbClr val="E4E9F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2344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83880" y="27432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working overtime leave more often.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3474720" cy="2331720"/>
          </a:xfrm>
          <a:prstGeom prst="roundRect">
            <a:avLst>
              <a:gd name="adj" fmla="val 2353"/>
            </a:avLst>
          </a:prstGeom>
          <a:solidFill>
            <a:srgbClr val="F4F6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794760"/>
            <a:ext cx="3200400" cy="1463040"/>
          </a:xfrm>
          <a:prstGeom prst="roundRect">
            <a:avLst>
              <a:gd name="adj" fmla="val 2500"/>
            </a:avLst>
          </a:prstGeom>
          <a:solidFill>
            <a:srgbClr val="E4E9F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947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303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skews younger; younger employees attrite more.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3657600"/>
            <a:ext cx="3474720" cy="2331720"/>
          </a:xfrm>
          <a:prstGeom prst="roundRect">
            <a:avLst>
              <a:gd name="adj" fmla="val 2353"/>
            </a:avLst>
          </a:prstGeom>
          <a:solidFill>
            <a:srgbClr val="F4F6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3794760"/>
            <a:ext cx="3200400" cy="1463040"/>
          </a:xfrm>
          <a:prstGeom prst="roundRect">
            <a:avLst>
              <a:gd name="adj" fmla="val 2500"/>
            </a:avLst>
          </a:prstGeom>
          <a:solidFill>
            <a:srgbClr val="E4E9F2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7947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80560" y="5303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commutes trend with higher attrition.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0" y="3657600"/>
            <a:ext cx="3474720" cy="2331720"/>
          </a:xfrm>
          <a:prstGeom prst="roundRect">
            <a:avLst>
              <a:gd name="adj" fmla="val 2353"/>
            </a:avLst>
          </a:prstGeom>
          <a:solidFill>
            <a:srgbClr val="F4F6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794760"/>
            <a:ext cx="3200400" cy="1463040"/>
          </a:xfrm>
          <a:prstGeom prst="roundRect">
            <a:avLst>
              <a:gd name="adj" fmla="val 2500"/>
            </a:avLst>
          </a:prstGeom>
          <a:solidFill>
            <a:srgbClr val="E4E9F2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37947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83880" y="5303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relationships across numerical HR attributes.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A03C3C9-6AB1-CE7D-1EB8-5E693E089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752" y="1347203"/>
            <a:ext cx="2090398" cy="12370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1CFFAEB-5E42-CAC1-5B39-D8920A006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241" y="1366231"/>
            <a:ext cx="2441518" cy="119895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36CE3B9-4770-771F-8EC2-09D77E86FA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151" y="1335794"/>
            <a:ext cx="1989858" cy="125983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6B3D515-3257-31BE-C2A4-A8A94E5842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745" y="3871990"/>
            <a:ext cx="2389390" cy="130857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AD78709-3AA4-73D6-EB22-4C8578FD30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5736" y="3858974"/>
            <a:ext cx="2140527" cy="132159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8BF4B79-142B-86B5-F7A1-EB89B18223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1516" y="3879005"/>
            <a:ext cx="1865127" cy="12945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Encoding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categorical columns converted to numeric codes.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34 features standardised to a common scale.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ranked features by predictive contribution.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0" y="1188720"/>
          <a:ext cx="731520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classification algorithms were trained and compared on a held-out test set (20%).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949440" cy="30175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Selected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Vector Machine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64592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6" name="Shape 3"/>
          <p:cNvSpPr/>
          <p:nvPr/>
        </p:nvSpPr>
        <p:spPr>
          <a:xfrm>
            <a:off x="9646920" y="1920240"/>
            <a:ext cx="914400" cy="91440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7" name="Image 0" descr="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648" y="2029968"/>
            <a:ext cx="694944" cy="6949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3816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138160" y="3337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4" name="Text 6"/>
          <p:cNvSpPr/>
          <p:nvPr/>
        </p:nvSpPr>
        <p:spPr>
          <a:xfrm>
            <a:off x="8275320" y="384048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achieving the highest test accuracy among all five models compared, while remaining fast, interpretable, and well suited for real-time deployment.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4416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87.42%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83280" y="12344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34416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34416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26480" y="2011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(Stay)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69680" y="12344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0" y="134416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869680" y="2011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(Leave)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5943600" cy="115214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(Stayed)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(Left)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40080" y="4343400"/>
            <a:ext cx="5943600" cy="1691640"/>
          </a:xfrm>
          <a:prstGeom prst="roundRect">
            <a:avLst>
              <a:gd name="adj" fmla="val 4324"/>
            </a:avLst>
          </a:prstGeom>
          <a:solidFill>
            <a:srgbClr val="F4F6FA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Interpretation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484632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very reliable at confirming who will stay, and reasonably effective at flagging likely leavers - useful for prioritising retention conversations, though some at-risk employees may still be missed.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58000" y="2697480"/>
            <a:ext cx="466344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40880" y="40233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6230571-BAFD-81D7-77BF-5D3FF5659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575" y="2904553"/>
            <a:ext cx="3322290" cy="29691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Streamlit Application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9686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8016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29000" y="128016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128016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28016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006840" y="128016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0" y="128016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23060" y="4067922"/>
            <a:ext cx="640080" cy="64008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12" name="Image 0" descr="Robot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99869" y="4145738"/>
            <a:ext cx="486461" cy="48646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47838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Auto-Loaded Model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529512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scaler, and encoders load automatically - no manual setup.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50144" y="4074975"/>
            <a:ext cx="640080" cy="64008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16" name="Image 1" descr="Head with gears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526954" y="4145739"/>
            <a:ext cx="486461" cy="4864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8178" y="47838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Error Handling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549618" y="529512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Gracefully handles unseen inputs and missing files.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210550" y="4070945"/>
            <a:ext cx="640080" cy="64008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20" name="Image 2" descr="icons/github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7287360" y="4151785"/>
            <a:ext cx="486461" cy="4864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38744" y="47838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Version Control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30184" y="529512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https://github.com/samyakjainx/Employee-Attrition-Prediction-System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10005882" y="4068930"/>
            <a:ext cx="640080" cy="64008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24" name="Image 3" descr="Building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066629" y="4147754"/>
            <a:ext cx="486461" cy="4864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22902" y="47838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144000" y="529512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Community Cloud – </a:t>
            </a:r>
          </a:p>
          <a:p>
            <a:pPr algn="ctr"/>
            <a:endParaRPr lang="en-US" sz="1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https://employee-attrition-prediction-system-samyakjain.streamlit.app/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889D430-37AE-1A02-47B5-CD6E150369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405" y="1562878"/>
            <a:ext cx="2389390" cy="187763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07864E0-8FA3-E1CC-881C-776D7924CC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1562878"/>
            <a:ext cx="2331720" cy="184486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40214EE-5472-5C8D-3F1A-75E65C22E8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1562878"/>
            <a:ext cx="2313612" cy="184486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6CEF14D-BB04-9B32-E7D2-B6C0205A55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6125" y="1562878"/>
            <a:ext cx="2299595" cy="1844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feature importance and EDA findings from this project.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11680" cy="402336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clock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402690" y="217993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Overtime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ranked among the top attrition drivers - monitor workload and cap excess hours.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907792" y="1828800"/>
            <a:ext cx="2011680" cy="402336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3593592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heart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3670402" y="217993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17520" y="288036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Work-Life Balance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044952" y="35204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poor work-life balance scores show higher attrition risk.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175504" y="1828800"/>
            <a:ext cx="2011680" cy="402336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5861304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users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5938114" y="2179930"/>
            <a:ext cx="486461" cy="4864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85232" y="288036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 Job Satisfaction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312664" y="35204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satisfaction scores correlate strongly with leaving - act on regular pulse surveys.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443216" y="1828800"/>
            <a:ext cx="2011680" cy="402336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/>
        </p:spPr>
      </p:sp>
      <p:sp>
        <p:nvSpPr>
          <p:cNvPr id="20" name="Shape 15"/>
          <p:cNvSpPr/>
          <p:nvPr/>
        </p:nvSpPr>
        <p:spPr>
          <a:xfrm>
            <a:off x="8129016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dollar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8205826" y="2179930"/>
            <a:ext cx="486461" cy="4864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52944" y="288036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Compensation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580376" y="35204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MonthlyIncome and DailyRate are the two strongest predictors - benchmark pay bands regularly.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710928" y="1828800"/>
            <a:ext cx="2011680" cy="402336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96728" y="2103120"/>
            <a:ext cx="640080" cy="64008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26" name="Image 4" descr="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3538" y="2179930"/>
            <a:ext cx="486461" cy="4864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0656" y="288036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Retention Plans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848088" y="35204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model risk scores to prioritise retention conversations for high-risk employees.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/>
        </p:spPr>
      </p:sp>
      <p:sp>
        <p:nvSpPr>
          <p:cNvPr id="4" name="Shape 2"/>
          <p:cNvSpPr/>
          <p:nvPr/>
        </p:nvSpPr>
        <p:spPr>
          <a:xfrm>
            <a:off x="1623060" y="1600200"/>
            <a:ext cx="640080" cy="64008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5" name="Image 0" descr="Tools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99870" y="167701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(SHAP)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individual predictions for HR trust and transparency.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29000" y="13716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/>
        </p:spPr>
      </p:sp>
      <p:sp>
        <p:nvSpPr>
          <p:cNvPr id="9" name="Shape 6"/>
          <p:cNvSpPr/>
          <p:nvPr/>
        </p:nvSpPr>
        <p:spPr>
          <a:xfrm>
            <a:off x="4411980" y="1600200"/>
            <a:ext cx="640080" cy="640080"/>
          </a:xfrm>
          <a:prstGeom prst="ellipse">
            <a:avLst/>
          </a:prstGeom>
          <a:solidFill>
            <a:srgbClr val="0068C9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0" name="Image 1" descr="Open book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88790" y="1677010"/>
            <a:ext cx="486461" cy="4864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331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66160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neural approaches as more data becomes available.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3716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/>
        </p:spPr>
      </p:sp>
      <p:sp>
        <p:nvSpPr>
          <p:cNvPr id="14" name="Shape 10"/>
          <p:cNvSpPr/>
          <p:nvPr/>
        </p:nvSpPr>
        <p:spPr>
          <a:xfrm>
            <a:off x="7200900" y="1600200"/>
            <a:ext cx="640080" cy="64008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15" name="Image 2" descr="Theatre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277710" y="1677010"/>
            <a:ext cx="486461" cy="4864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2331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Dashboard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55080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predictions across teams and departments.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006840" y="13716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/>
        </p:spPr>
      </p:sp>
      <p:sp>
        <p:nvSpPr>
          <p:cNvPr id="19" name="Shape 14"/>
          <p:cNvSpPr/>
          <p:nvPr/>
        </p:nvSpPr>
        <p:spPr>
          <a:xfrm>
            <a:off x="9989820" y="1600200"/>
            <a:ext cx="640080" cy="64008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20" name="Image 3" descr="Books on shelf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066630" y="1677010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0" y="2331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144000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directly to a live HR records database.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40080" y="39319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/>
        </p:spPr>
      </p:sp>
      <p:sp>
        <p:nvSpPr>
          <p:cNvPr id="24" name="Shape 18"/>
          <p:cNvSpPr/>
          <p:nvPr/>
        </p:nvSpPr>
        <p:spPr>
          <a:xfrm>
            <a:off x="1623060" y="4160520"/>
            <a:ext cx="640080" cy="64008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25" name="Image 4" descr="Lock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699870" y="4237330"/>
            <a:ext cx="486461" cy="4864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7240" y="4892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77240" y="5394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for authorised HR access only.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429000" y="39319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/>
        </p:spPr>
      </p:sp>
      <p:sp>
        <p:nvSpPr>
          <p:cNvPr id="29" name="Shape 22"/>
          <p:cNvSpPr/>
          <p:nvPr/>
        </p:nvSpPr>
        <p:spPr>
          <a:xfrm>
            <a:off x="4411980" y="4160520"/>
            <a:ext cx="640080" cy="64008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30" name="Image 5" descr="Cloud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488790" y="4237330"/>
            <a:ext cx="486461" cy="48646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566160" y="4892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Improvements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3566160" y="5394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 and CI/CD for smoother redeployment.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217920" y="39319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/>
        </p:spPr>
      </p:sp>
      <p:sp>
        <p:nvSpPr>
          <p:cNvPr id="34" name="Shape 26"/>
          <p:cNvSpPr/>
          <p:nvPr/>
        </p:nvSpPr>
        <p:spPr>
          <a:xfrm>
            <a:off x="7200900" y="4160520"/>
            <a:ext cx="640080" cy="640080"/>
          </a:xfrm>
          <a:prstGeom prst="ellipse">
            <a:avLst/>
          </a:prstGeom>
          <a:solidFill>
            <a:srgbClr val="0068C9"/>
          </a:solidFill>
          <a:ln/>
        </p:spPr>
      </p:sp>
      <p:pic>
        <p:nvPicPr>
          <p:cNvPr id="35" name="Image 6" descr="Run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277710" y="4232135"/>
            <a:ext cx="486461" cy="48646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55080" y="4892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Prediction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6355080" y="5394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predictions automatically on HR record updates.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783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22402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end-to-end system - from raw HR data to a deployed prediction tool - covering the full ML lifecycle.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783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1783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8040" y="22402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HR teams an early, data-driven signal on attrition risk instead of relying only on hindsight.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97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297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7548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preprocessing, model comparison, evaluation, and real-world deployment.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406908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4297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4297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Application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47548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deployed Streamlit app is usable today to score any employee profile in seconds.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757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9202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6974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99716" y="3931920"/>
            <a:ext cx="640080" cy="640080"/>
          </a:xfrm>
          <a:prstGeom prst="ellipse">
            <a:avLst/>
          </a:prstGeom>
          <a:solidFill>
            <a:srgbClr val="273580"/>
          </a:solidFill>
          <a:ln/>
        </p:spPr>
      </p:sp>
      <p:pic>
        <p:nvPicPr>
          <p:cNvPr id="7" name="Image 0" descr="icons/github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79573" y="4054449"/>
            <a:ext cx="486461" cy="4864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5276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65276" y="5029200"/>
            <a:ext cx="310896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https://github.com/samyakjainx/Employee-Attrition-Prediction-System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74436" y="3931920"/>
            <a:ext cx="640080" cy="640080"/>
          </a:xfrm>
          <a:prstGeom prst="ellipse">
            <a:avLst/>
          </a:prstGeom>
          <a:solidFill>
            <a:srgbClr val="273580"/>
          </a:solidFill>
          <a:ln/>
        </p:spPr>
      </p:sp>
      <p:pic>
        <p:nvPicPr>
          <p:cNvPr id="11" name="Image 1" descr="Social network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51246" y="400873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9996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Link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39996" y="5029200"/>
            <a:ext cx="310896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https://employee-attrition-prediction-system-samyakjain.streamlit.app/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249156" y="3931920"/>
            <a:ext cx="640080" cy="640080"/>
          </a:xfrm>
          <a:prstGeom prst="ellipse">
            <a:avLst/>
          </a:prstGeom>
          <a:solidFill>
            <a:srgbClr val="273580"/>
          </a:solidFill>
          <a:ln/>
        </p:spPr>
      </p:sp>
      <p:pic>
        <p:nvPicPr>
          <p:cNvPr id="15" name="Image 2" descr="icons/linkedin.png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25966" y="4008730"/>
            <a:ext cx="486461" cy="4864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14716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014716" y="5029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https://www.linkedin.com/in/samyakjain-ai/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1050</Words>
  <Application>Microsoft Office PowerPoint</Application>
  <PresentationFormat>Widescreen</PresentationFormat>
  <Paragraphs>240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Samyak Jain</cp:lastModifiedBy>
  <cp:revision>2</cp:revision>
  <dcterms:created xsi:type="dcterms:W3CDTF">2026-07-13T06:35:52Z</dcterms:created>
  <dcterms:modified xsi:type="dcterms:W3CDTF">2026-07-13T20:27:42Z</dcterms:modified>
</cp:coreProperties>
</file>